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146280c2574975" /><Relationship Type="http://schemas.openxmlformats.org/officeDocument/2006/relationships/extended-properties" Target="/docProps/app.xml" Id="R205184e7b0e14e15" /><Relationship Type="http://schemas.openxmlformats.org/officeDocument/2006/relationships/officeDocument" Target="/ppt/presentation.xml" Id="R975ef29a0bc54d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72e90148414b83"/>
  </p:sldMasterIdLst>
  <p:notesMasterIdLst>
    <p:notesMasterId xmlns:r="http://schemas.openxmlformats.org/officeDocument/2006/relationships" r:id="R181946bf0acf474c"/>
  </p:notesMasterIdLst>
  <p:sldIdLst>
    <p:sldId xmlns:r="http://schemas.openxmlformats.org/officeDocument/2006/relationships" id="256" r:id="Rb5c03a82b9ac40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0abde6c7564763" /><Relationship Type="http://schemas.openxmlformats.org/officeDocument/2006/relationships/slideMaster" Target="/ppt/slideMasters/slideMaster1.xml" Id="Re472e90148414b83" /><Relationship Type="http://schemas.openxmlformats.org/officeDocument/2006/relationships/notesMaster" Target="/ppt/notesMasters/notesMaster1.xml" Id="R181946bf0acf474c" /><Relationship Type="http://schemas.openxmlformats.org/officeDocument/2006/relationships/presProps" Target="/ppt/presProps.xml" Id="Rd858fec06e8f46d7" /><Relationship Type="http://schemas.openxmlformats.org/officeDocument/2006/relationships/tableStyles" Target="/ppt/tableStyles.xml" Id="R5a558677cbee45b3" /><Relationship Type="http://schemas.openxmlformats.org/officeDocument/2006/relationships/slide" Target="/ppt/slides/slide1.xml" Id="Rb5c03a82b9ac40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038df88cdc40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c4f22d89e14407" /><Relationship Type="http://schemas.openxmlformats.org/officeDocument/2006/relationships/notesMaster" Target="/ppt/notesMasters/notesMaster1.xml" Id="R016bfa0d638449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ablation specification and local thesis implementation; no external 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0f82fafd44b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1040f3fc6343f2" /><Relationship Type="http://schemas.openxmlformats.org/officeDocument/2006/relationships/slideLayout" Target="/ppt/slideLayouts/slideLayout1.xml" Id="R9e1da3f39d814f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1da3f39d814f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81738049147eb" /><Relationship Type="http://schemas.openxmlformats.org/officeDocument/2006/relationships/notesSlide" Target="/ppt/notesSlides/notesSlide1.xml" Id="R3f00183e71234e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A5-highlight">
            <a:extLst xmlns:a="http://schemas.openxmlformats.org/drawingml/2006/main">
              <a:ext uri="{FF2B5EF4-FFF2-40B4-BE49-F238E27FC236}">
                <a16:creationId xmlns:a16="http://schemas.microsoft.com/office/drawing/2014/main" id="{8EC4FB09-F7A4-44CD-9FDD-83DEA6E8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66875"/>
            <a:ext cx="2114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cxnSp>
        <p:nvCxnSpPr>
          <p:cNvPr id="33" name="ablation-timeline"/>
          <p:cNvCxnSpPr/>
          <p:nvPr/>
        </p:nvCxnSpPr>
        <p:spPr>
          <a:xfrm xmlns:a="http://schemas.openxmlformats.org/drawingml/2006/main">
            <a:off x="1352550" y="2647950"/>
            <a:ext cx="94107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comparison-A1">
            <a:extLst xmlns:a="http://schemas.openxmlformats.org/drawingml/2006/main">
              <a:ext uri="{FF2B5EF4-FFF2-40B4-BE49-F238E27FC236}">
                <a16:creationId xmlns:a16="http://schemas.microsoft.com/office/drawing/2014/main" id="{D81A5448-B239-40DC-9B27-5E873520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857875"/>
            <a:ext cx="213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A1 − A0
extra exposure</a:t>
            </a:r>
          </a:p>
        </p:txBody>
      </p:sp>
      <p:sp>
        <p:nvSpPr>
          <p:cNvPr id="4" name="comparison-A2">
            <a:extLst xmlns:a="http://schemas.openxmlformats.org/drawingml/2006/main">
              <a:ext uri="{FF2B5EF4-FFF2-40B4-BE49-F238E27FC236}">
                <a16:creationId xmlns:a16="http://schemas.microsoft.com/office/drawing/2014/main" id="{253C939B-98B3-49CB-B45A-48C5FDC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857875"/>
            <a:ext cx="213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A2 − A1
statistical targeting</a:t>
            </a:r>
          </a:p>
        </p:txBody>
      </p:sp>
      <p:sp>
        <p:nvSpPr>
          <p:cNvPr id="5" name="comparison-A4">
            <a:extLst xmlns:a="http://schemas.openxmlformats.org/drawingml/2006/main">
              <a:ext uri="{FF2B5EF4-FFF2-40B4-BE49-F238E27FC236}">
                <a16:creationId xmlns:a16="http://schemas.microsoft.com/office/drawing/2014/main" id="{C2ACBA02-2C6C-4E1E-9016-85EC4E14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857875"/>
            <a:ext cx="213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A4 − A2
XAI contribution</a:t>
            </a:r>
          </a:p>
        </p:txBody>
      </p:sp>
      <p:sp>
        <p:nvSpPr>
          <p:cNvPr id="6" name="comparison-A5">
            <a:extLst xmlns:a="http://schemas.openxmlformats.org/drawingml/2006/main">
              <a:ext uri="{FF2B5EF4-FFF2-40B4-BE49-F238E27FC236}">
                <a16:creationId xmlns:a16="http://schemas.microsoft.com/office/drawing/2014/main" id="{6D6B30EE-3B70-4D08-ABE4-D950150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857875"/>
            <a:ext cx="213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A5 − A4
tail / rare focus</a:t>
            </a:r>
          </a:p>
        </p:txBody>
      </p:sp>
      <p:sp>
        <p:nvSpPr>
          <p:cNvPr id="7" name="node-A0">
            <a:extLst xmlns:a="http://schemas.openxmlformats.org/drawingml/2006/main">
              <a:ext uri="{FF2B5EF4-FFF2-40B4-BE49-F238E27FC236}">
                <a16:creationId xmlns:a16="http://schemas.microsoft.com/office/drawing/2014/main" id="{837C43B2-19BD-4CD2-B677-DE7110B7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variant-A0">
            <a:extLst xmlns:a="http://schemas.openxmlformats.org/drawingml/2006/main">
              <a:ext uri="{FF2B5EF4-FFF2-40B4-BE49-F238E27FC236}">
                <a16:creationId xmlns:a16="http://schemas.microsoft.com/office/drawing/2014/main" id="{BE48E212-3EA7-4C48-BE9F-057D183A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924050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A0</a:t>
            </a:r>
          </a:p>
        </p:txBody>
      </p:sp>
      <p:sp>
        <p:nvSpPr>
          <p:cNvPr id="9" name="heading-A0">
            <a:extLst xmlns:a="http://schemas.openxmlformats.org/drawingml/2006/main">
              <a:ext uri="{FF2B5EF4-FFF2-40B4-BE49-F238E27FC236}">
                <a16:creationId xmlns:a16="http://schemas.microsoft.com/office/drawing/2014/main" id="{51AAC5B0-8318-491A-9F8D-F050E51B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105150"/>
            <a:ext cx="2000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0" name="description-A0">
            <a:extLst xmlns:a="http://schemas.openxmlformats.org/drawingml/2006/main">
              <a:ext uri="{FF2B5EF4-FFF2-40B4-BE49-F238E27FC236}">
                <a16:creationId xmlns:a16="http://schemas.microsoft.com/office/drawing/2014/main" id="{3EF70D3B-CC0E-45B1-8D09-4AE8AE8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638550"/>
            <a:ext cx="2000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Original real_train
No augmentation</a:t>
            </a:r>
          </a:p>
        </p:txBody>
      </p:sp>
      <p:sp>
        <p:nvSpPr>
          <p:cNvPr id="11" name="node-A1">
            <a:extLst xmlns:a="http://schemas.openxmlformats.org/drawingml/2006/main">
              <a:ext uri="{FF2B5EF4-FFF2-40B4-BE49-F238E27FC236}">
                <a16:creationId xmlns:a16="http://schemas.microsoft.com/office/drawing/2014/main" id="{D89BA269-D019-4E6C-8FF3-63BC23D2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variant-A1">
            <a:extLst xmlns:a="http://schemas.openxmlformats.org/drawingml/2006/main">
              <a:ext uri="{FF2B5EF4-FFF2-40B4-BE49-F238E27FC236}">
                <a16:creationId xmlns:a16="http://schemas.microsoft.com/office/drawing/2014/main" id="{A01E1BD0-6BE4-4FC4-A554-1D3E4E4D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24050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13" name="heading-A1">
            <a:extLst xmlns:a="http://schemas.openxmlformats.org/drawingml/2006/main">
              <a:ext uri="{FF2B5EF4-FFF2-40B4-BE49-F238E27FC236}">
                <a16:creationId xmlns:a16="http://schemas.microsoft.com/office/drawing/2014/main" id="{8BC29E81-81BC-4290-92E4-50B8A74B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05150"/>
            <a:ext cx="2000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Exposure control</a:t>
            </a:r>
          </a:p>
        </p:txBody>
      </p:sp>
      <p:sp>
        <p:nvSpPr>
          <p:cNvPr id="14" name="description-A1">
            <a:extLst xmlns:a="http://schemas.openxmlformats.org/drawingml/2006/main">
              <a:ext uri="{FF2B5EF4-FFF2-40B4-BE49-F238E27FC236}">
                <a16:creationId xmlns:a16="http://schemas.microsoft.com/office/drawing/2014/main" id="{310E5A02-053B-409E-BEA7-1E2183C5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2000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Uniform augmentation
No targeting signal</a:t>
            </a:r>
          </a:p>
        </p:txBody>
      </p:sp>
      <p:sp>
        <p:nvSpPr>
          <p:cNvPr id="15" name="node-A2">
            <a:extLst xmlns:a="http://schemas.openxmlformats.org/drawingml/2006/main">
              <a:ext uri="{FF2B5EF4-FFF2-40B4-BE49-F238E27FC236}">
                <a16:creationId xmlns:a16="http://schemas.microsoft.com/office/drawing/2014/main" id="{35EFD2D2-64A3-4118-807D-3FA5F85D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variant-A2">
            <a:extLst xmlns:a="http://schemas.openxmlformats.org/drawingml/2006/main">
              <a:ext uri="{FF2B5EF4-FFF2-40B4-BE49-F238E27FC236}">
                <a16:creationId xmlns:a16="http://schemas.microsoft.com/office/drawing/2014/main" id="{631C2E81-B402-4523-BA61-8229A023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24050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7" name="heading-A2">
            <a:extLst xmlns:a="http://schemas.openxmlformats.org/drawingml/2006/main">
              <a:ext uri="{FF2B5EF4-FFF2-40B4-BE49-F238E27FC236}">
                <a16:creationId xmlns:a16="http://schemas.microsoft.com/office/drawing/2014/main" id="{AE101CAF-5800-41AA-83A2-35ECB1E6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05150"/>
            <a:ext cx="2000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Mismatch</a:t>
            </a:r>
          </a:p>
        </p:txBody>
      </p:sp>
      <p:sp>
        <p:nvSpPr>
          <p:cNvPr id="18" name="description-A2">
            <a:extLst xmlns:a="http://schemas.openxmlformats.org/drawingml/2006/main">
              <a:ext uri="{FF2B5EF4-FFF2-40B4-BE49-F238E27FC236}">
                <a16:creationId xmlns:a16="http://schemas.microsoft.com/office/drawing/2014/main" id="{A23B0920-5FE2-4D50-8AC7-A3BFC4A8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38550"/>
            <a:ext cx="2000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Weighted augmentation
P = M</a:t>
            </a:r>
          </a:p>
        </p:txBody>
      </p:sp>
      <p:sp>
        <p:nvSpPr>
          <p:cNvPr id="19" name="node-A4">
            <a:extLst xmlns:a="http://schemas.openxmlformats.org/drawingml/2006/main">
              <a:ext uri="{FF2B5EF4-FFF2-40B4-BE49-F238E27FC236}">
                <a16:creationId xmlns:a16="http://schemas.microsoft.com/office/drawing/2014/main" id="{E94ADD25-FBD8-4DF5-908E-4A4B29C5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variant-A4">
            <a:extLst xmlns:a="http://schemas.openxmlformats.org/drawingml/2006/main">
              <a:ext uri="{FF2B5EF4-FFF2-40B4-BE49-F238E27FC236}">
                <a16:creationId xmlns:a16="http://schemas.microsoft.com/office/drawing/2014/main" id="{53C6C3A5-A37F-4DE9-BC07-FA2783FE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24050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21" name="heading-A4">
            <a:extLst xmlns:a="http://schemas.openxmlformats.org/drawingml/2006/main">
              <a:ext uri="{FF2B5EF4-FFF2-40B4-BE49-F238E27FC236}">
                <a16:creationId xmlns:a16="http://schemas.microsoft.com/office/drawing/2014/main" id="{24DC2286-25FA-45C1-8CF7-A383DCEE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05150"/>
            <a:ext cx="2000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XAI + mismatch</a:t>
            </a:r>
          </a:p>
        </p:txBody>
      </p:sp>
      <p:sp>
        <p:nvSpPr>
          <p:cNvPr id="22" name="description-A4">
            <a:extLst xmlns:a="http://schemas.openxmlformats.org/drawingml/2006/main">
              <a:ext uri="{FF2B5EF4-FFF2-40B4-BE49-F238E27FC236}">
                <a16:creationId xmlns:a16="http://schemas.microsoft.com/office/drawing/2014/main" id="{F2D06FA9-07E3-4B0A-BCED-AD45FC63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38550"/>
            <a:ext cx="2000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Weighted augmentation
P = 0.625 I + 0.375 M</a:t>
            </a:r>
          </a:p>
        </p:txBody>
      </p:sp>
      <p:sp>
        <p:nvSpPr>
          <p:cNvPr id="23" name="node-A5">
            <a:extLst xmlns:a="http://schemas.openxmlformats.org/drawingml/2006/main">
              <a:ext uri="{FF2B5EF4-FFF2-40B4-BE49-F238E27FC236}">
                <a16:creationId xmlns:a16="http://schemas.microsoft.com/office/drawing/2014/main" id="{56469230-2E3D-43F3-9135-2CF3D903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variant-A5">
            <a:extLst xmlns:a="http://schemas.openxmlformats.org/drawingml/2006/main">
              <a:ext uri="{FF2B5EF4-FFF2-40B4-BE49-F238E27FC236}">
                <a16:creationId xmlns:a16="http://schemas.microsoft.com/office/drawing/2014/main" id="{549AF2AE-4F86-4234-A65E-FBB4535A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24050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F65C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65C7"/>
                </a:solidFill>
                <a:latin typeface="Arial"/>
                <a:ea typeface="Arial"/>
                <a:cs typeface="Arial"/>
              </a:rPr>
              <a:t>A5</a:t>
            </a:r>
          </a:p>
        </p:txBody>
      </p:sp>
      <p:sp>
        <p:nvSpPr>
          <p:cNvPr id="25" name="heading-A5">
            <a:extLst xmlns:a="http://schemas.openxmlformats.org/drawingml/2006/main">
              <a:ext uri="{FF2B5EF4-FFF2-40B4-BE49-F238E27FC236}">
                <a16:creationId xmlns:a16="http://schemas.microsoft.com/office/drawing/2014/main" id="{BE673B90-7154-4D80-93E5-3DFF1FBE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2000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method</a:t>
            </a:r>
          </a:p>
        </p:txBody>
      </p:sp>
      <p:sp>
        <p:nvSpPr>
          <p:cNvPr id="26" name="description-A5">
            <a:extLst xmlns:a="http://schemas.openxmlformats.org/drawingml/2006/main">
              <a:ext uri="{FF2B5EF4-FFF2-40B4-BE49-F238E27FC236}">
                <a16:creationId xmlns:a16="http://schemas.microsoft.com/office/drawing/2014/main" id="{9C38DC8B-B98A-4CF2-B4AB-1BBCD9B2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38550"/>
            <a:ext cx="2000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Weighted augmentation
P = 0.5 I + 0.3 M + 0.2 T</a:t>
            </a:r>
          </a:p>
        </p:txBody>
      </p:sp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E4A7FEBB-F09E-4F55-ADFE-E8DA99EE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ABLATION STUDY SETUP</a:t>
            </a:r>
          </a:p>
        </p:txBody>
      </p:sp>
      <p:sp>
        <p:nvSpPr>
          <p:cNvPr id="28" name="title">
            <a:extLst xmlns:a="http://schemas.openxmlformats.org/drawingml/2006/main">
              <a:ext uri="{FF2B5EF4-FFF2-40B4-BE49-F238E27FC236}">
                <a16:creationId xmlns:a16="http://schemas.microsoft.com/office/drawing/2014/main" id="{D116FE20-48F4-4699-8A39-2580B642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Five controlled variants isolate where gains come from</a:t>
            </a:r>
          </a:p>
        </p:txBody>
      </p:sp>
      <p:sp>
        <p:nvSpPr>
          <p:cNvPr id="29" name="subtitle">
            <a:extLst xmlns:a="http://schemas.openxmlformats.org/drawingml/2006/main">
              <a:ext uri="{FF2B5EF4-FFF2-40B4-BE49-F238E27FC236}">
                <a16:creationId xmlns:a16="http://schemas.microsoft.com/office/drawing/2014/main" id="{9F82CDE1-8F86-4152-AF93-897105C4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Each step changes one design choice; seed, base rows, augmentation size, generator settings and output size stay fixed.</a:t>
            </a:r>
          </a:p>
        </p:txBody>
      </p:sp>
      <p:sp>
        <p:nvSpPr>
          <p:cNvPr id="30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6704FDC5-FC6D-47C9-BACC-5FDFA4AC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CONTROLLED
READOUT</a:t>
            </a:r>
          </a:p>
        </p:txBody>
      </p:sp>
      <p:sp>
        <p:nvSpPr>
          <p:cNvPr id="31" name="A3-note">
            <a:extLst xmlns:a="http://schemas.openxmlformats.org/drawingml/2006/main">
              <a:ext uri="{FF2B5EF4-FFF2-40B4-BE49-F238E27FC236}">
                <a16:creationId xmlns:a16="http://schemas.microsoft.com/office/drawing/2014/main" id="{C5925E11-9BA0-4FCF-9BBB-B243D2DA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4960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A3 is outside this milestone</a:t>
            </a:r>
          </a:p>
        </p:txBody>
      </p:sp>
    </p:spTree>
    <p:extLst>
      <p:ext uri="{BB962C8B-B14F-4D97-AF65-F5344CB8AC3E}">
        <p14:creationId xmlns:p14="http://schemas.microsoft.com/office/powerpoint/2010/main" val="1177326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2026-08-04T12:11:12.7090000Z</dcterms:created>
  <dcterms:modified xsi:type="dcterms:W3CDTF">2026-08-04T12:11:12.7100000Z</dcterms:modified>
</coreProperties>
</file>